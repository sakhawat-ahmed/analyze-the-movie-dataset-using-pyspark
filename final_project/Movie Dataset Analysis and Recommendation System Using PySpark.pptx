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  <p:embeddedFont>
      <p:font typeface="Maven Pro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22" Type="http://schemas.openxmlformats.org/officeDocument/2006/relationships/font" Target="fonts/MavenPro-bold.fntdata"/><Relationship Id="rId10" Type="http://schemas.openxmlformats.org/officeDocument/2006/relationships/slide" Target="slides/slide5.xml"/><Relationship Id="rId21" Type="http://schemas.openxmlformats.org/officeDocument/2006/relationships/font" Target="fonts/MavenPro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italic.fntdata"/><Relationship Id="rId6" Type="http://schemas.openxmlformats.org/officeDocument/2006/relationships/slide" Target="slides/slide1.xml"/><Relationship Id="rId18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b34230d2a2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b34230d2a2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b34230d2a2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b34230d2a2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b34230d2a2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b34230d2a2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b34230d2a2_0_10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b34230d2a2_0_10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b34230d2a2_0_10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b34230d2a2_0_1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b34230d2a2_0_10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b34230d2a2_0_10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b34230d2a2_0_1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b34230d2a2_0_1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b34230d2a2_0_1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b34230d2a2_0_1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b34230d2a2_0_1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b34230d2a2_0_1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b34230d2a2_0_1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b34230d2a2_0_1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737600" y="6562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Movie Dataset Analysis and Recommendation System Using PySpark</a:t>
            </a:r>
            <a:endParaRPr/>
          </a:p>
        </p:txBody>
      </p:sp>
      <p:sp>
        <p:nvSpPr>
          <p:cNvPr id="278" name="Google Shape;278;p13"/>
          <p:cNvSpPr txBox="1"/>
          <p:nvPr/>
        </p:nvSpPr>
        <p:spPr>
          <a:xfrm>
            <a:off x="525600" y="3607200"/>
            <a:ext cx="38808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MIA MD RAKIB               20233120001</a:t>
            </a:r>
            <a:endParaRPr b="1" sz="13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ctrTitle"/>
          </p:nvPr>
        </p:nvSpPr>
        <p:spPr>
          <a:xfrm>
            <a:off x="226400" y="339425"/>
            <a:ext cx="82119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 &amp; Objectives</a:t>
            </a:r>
            <a:endParaRPr/>
          </a:p>
        </p:txBody>
      </p:sp>
      <p:sp>
        <p:nvSpPr>
          <p:cNvPr id="284" name="Google Shape;284;p14"/>
          <p:cNvSpPr txBox="1"/>
          <p:nvPr/>
        </p:nvSpPr>
        <p:spPr>
          <a:xfrm>
            <a:off x="532800" y="1771200"/>
            <a:ext cx="55152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Analyze large-scale movie data</a:t>
            </a:r>
            <a:br>
              <a:rPr b="1" lang="en" sz="1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</a:br>
            <a:endParaRPr b="1" sz="15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Handle millions of records using PySpark</a:t>
            </a:r>
            <a:br>
              <a:rPr b="1" lang="en" sz="1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</a:br>
            <a:endParaRPr b="1" sz="15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Predict movie performance</a:t>
            </a:r>
            <a:br>
              <a:rPr b="1" lang="en" sz="1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</a:br>
            <a:endParaRPr b="1" sz="15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Build a recommendation system</a:t>
            </a:r>
            <a:endParaRPr b="1" sz="15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ctrTitle"/>
          </p:nvPr>
        </p:nvSpPr>
        <p:spPr>
          <a:xfrm>
            <a:off x="223200" y="339425"/>
            <a:ext cx="6703200" cy="60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</a:t>
            </a:r>
            <a:endParaRPr/>
          </a:p>
        </p:txBody>
      </p:sp>
      <p:sp>
        <p:nvSpPr>
          <p:cNvPr id="290" name="Google Shape;290;p15"/>
          <p:cNvSpPr txBox="1"/>
          <p:nvPr>
            <p:ph idx="1" type="subTitle"/>
          </p:nvPr>
        </p:nvSpPr>
        <p:spPr>
          <a:xfrm>
            <a:off x="672800" y="1817900"/>
            <a:ext cx="4255500" cy="20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b="1" lang="en" sz="1520"/>
              <a:t>MovieLens Full Dataset</a:t>
            </a:r>
            <a:br>
              <a:rPr b="1" lang="en" sz="1520"/>
            </a:br>
            <a:endParaRPr b="1" sz="15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b="1" lang="en" sz="1520"/>
              <a:t>45,000+ movies</a:t>
            </a:r>
            <a:br>
              <a:rPr b="1" lang="en" sz="1520"/>
            </a:br>
            <a:endParaRPr b="1" sz="15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b="1" lang="en" sz="1520"/>
              <a:t>26 million ratings</a:t>
            </a:r>
            <a:br>
              <a:rPr b="1" lang="en" sz="1520"/>
            </a:br>
            <a:endParaRPr b="1" sz="15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b="1" lang="en" sz="1520"/>
              <a:t>Metadata files</a:t>
            </a:r>
            <a:endParaRPr b="1" sz="152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b="1" sz="152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ctrTitle"/>
          </p:nvPr>
        </p:nvSpPr>
        <p:spPr>
          <a:xfrm>
            <a:off x="226400" y="332225"/>
            <a:ext cx="6678300" cy="64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Preprocessing</a:t>
            </a:r>
            <a:endParaRPr/>
          </a:p>
        </p:txBody>
      </p:sp>
      <p:pic>
        <p:nvPicPr>
          <p:cNvPr id="296" name="Google Shape;296;p16" title="Screenshot from 2025-12-23 12-03-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500" y="1195200"/>
            <a:ext cx="5884901" cy="368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ctrTitle"/>
          </p:nvPr>
        </p:nvSpPr>
        <p:spPr>
          <a:xfrm>
            <a:off x="226400" y="332225"/>
            <a:ext cx="7650300" cy="57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 Models</a:t>
            </a:r>
            <a:endParaRPr/>
          </a:p>
        </p:txBody>
      </p:sp>
      <p:sp>
        <p:nvSpPr>
          <p:cNvPr id="302" name="Google Shape;302;p17"/>
          <p:cNvSpPr txBox="1"/>
          <p:nvPr/>
        </p:nvSpPr>
        <p:spPr>
          <a:xfrm>
            <a:off x="576000" y="3225600"/>
            <a:ext cx="3592800" cy="17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Revenue RMSE ≈ 30M</a:t>
            </a:r>
            <a:br>
              <a:rPr b="1" lang="en" sz="1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</a:br>
            <a:endParaRPr b="1" sz="15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Vote Average RMSE ≈ 1.92</a:t>
            </a:r>
            <a:br>
              <a:rPr b="1" lang="en" sz="1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</a:br>
            <a:endParaRPr b="1" sz="15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Vote prediction more stable</a:t>
            </a:r>
            <a:endParaRPr b="1" sz="15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03" name="Google Shape;303;p17" title="Screenshot from 2025-12-23 17-27-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425" y="1141950"/>
            <a:ext cx="8439150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8"/>
          <p:cNvSpPr txBox="1"/>
          <p:nvPr>
            <p:ph type="ctrTitle"/>
          </p:nvPr>
        </p:nvSpPr>
        <p:spPr>
          <a:xfrm>
            <a:off x="226400" y="339425"/>
            <a:ext cx="7671900" cy="59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 System</a:t>
            </a:r>
            <a:endParaRPr/>
          </a:p>
        </p:txBody>
      </p:sp>
      <p:sp>
        <p:nvSpPr>
          <p:cNvPr id="309" name="Google Shape;309;p18"/>
          <p:cNvSpPr txBox="1"/>
          <p:nvPr>
            <p:ph idx="1" type="subTitle"/>
          </p:nvPr>
        </p:nvSpPr>
        <p:spPr>
          <a:xfrm>
            <a:off x="536000" y="1767500"/>
            <a:ext cx="4255500" cy="16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Collaborative filtering</a:t>
            </a:r>
            <a:br>
              <a:rPr b="1" lang="en" sz="1500"/>
            </a:b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ALS algorithm</a:t>
            </a:r>
            <a:br>
              <a:rPr b="1" lang="en" sz="1500"/>
            </a:b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User–movie interaction matrix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"/>
          <p:cNvSpPr txBox="1"/>
          <p:nvPr>
            <p:ph type="ctrTitle"/>
          </p:nvPr>
        </p:nvSpPr>
        <p:spPr>
          <a:xfrm>
            <a:off x="226400" y="339425"/>
            <a:ext cx="7671900" cy="59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 Movie Recommendation</a:t>
            </a:r>
            <a:endParaRPr/>
          </a:p>
        </p:txBody>
      </p:sp>
      <p:sp>
        <p:nvSpPr>
          <p:cNvPr id="315" name="Google Shape;315;p19"/>
          <p:cNvSpPr txBox="1"/>
          <p:nvPr>
            <p:ph idx="1" type="subTitle"/>
          </p:nvPr>
        </p:nvSpPr>
        <p:spPr>
          <a:xfrm>
            <a:off x="550400" y="1184300"/>
            <a:ext cx="4255500" cy="16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Input: Movie title</a:t>
            </a:r>
            <a:br>
              <a:rPr b="1" lang="en" sz="1500"/>
            </a:b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Output: Top similar movies</a:t>
            </a:r>
            <a:br>
              <a:rPr b="1" lang="en" sz="1500"/>
            </a:b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Based on latent features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  <p:pic>
        <p:nvPicPr>
          <p:cNvPr id="316" name="Google Shape;316;p19" title="Screenshot from 2025-12-23 18-18-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200" y="3131900"/>
            <a:ext cx="5626269" cy="140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0"/>
          <p:cNvSpPr txBox="1"/>
          <p:nvPr>
            <p:ph type="ctrTitle"/>
          </p:nvPr>
        </p:nvSpPr>
        <p:spPr>
          <a:xfrm>
            <a:off x="226400" y="339425"/>
            <a:ext cx="7671900" cy="59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Rating Prediction</a:t>
            </a:r>
            <a:endParaRPr/>
          </a:p>
        </p:txBody>
      </p:sp>
      <p:sp>
        <p:nvSpPr>
          <p:cNvPr id="322" name="Google Shape;322;p20"/>
          <p:cNvSpPr txBox="1"/>
          <p:nvPr>
            <p:ph idx="1" type="subTitle"/>
          </p:nvPr>
        </p:nvSpPr>
        <p:spPr>
          <a:xfrm>
            <a:off x="485600" y="1097900"/>
            <a:ext cx="4255500" cy="16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Predicts unseen ratings</a:t>
            </a:r>
            <a:br>
              <a:rPr b="1" lang="en" sz="1500"/>
            </a:b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Personalized results</a:t>
            </a:r>
            <a:br>
              <a:rPr b="1" lang="en" sz="1500"/>
            </a:b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Top recommendations per user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  <p:pic>
        <p:nvPicPr>
          <p:cNvPr id="323" name="Google Shape;323;p20" title="Screenshot from 2025-12-23 18-18-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300" y="2967725"/>
            <a:ext cx="4047699" cy="1796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1"/>
          <p:cNvSpPr txBox="1"/>
          <p:nvPr>
            <p:ph type="ctrTitle"/>
          </p:nvPr>
        </p:nvSpPr>
        <p:spPr>
          <a:xfrm>
            <a:off x="226400" y="339425"/>
            <a:ext cx="7671900" cy="59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 &amp; Scalability</a:t>
            </a:r>
            <a:endParaRPr/>
          </a:p>
        </p:txBody>
      </p:sp>
      <p:sp>
        <p:nvSpPr>
          <p:cNvPr id="329" name="Google Shape;329;p21"/>
          <p:cNvSpPr txBox="1"/>
          <p:nvPr>
            <p:ph idx="1" type="subTitle"/>
          </p:nvPr>
        </p:nvSpPr>
        <p:spPr>
          <a:xfrm>
            <a:off x="536000" y="1767500"/>
            <a:ext cx="4255500" cy="16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Memory-safe sampling</a:t>
            </a:r>
            <a:br>
              <a:rPr b="1" lang="en" sz="1500"/>
            </a:b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Spark MLlib</a:t>
            </a:r>
            <a:br>
              <a:rPr b="1" lang="en" sz="1500"/>
            </a:b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Successfully handled 26M ratings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2"/>
          <p:cNvSpPr txBox="1"/>
          <p:nvPr>
            <p:ph type="ctrTitle"/>
          </p:nvPr>
        </p:nvSpPr>
        <p:spPr>
          <a:xfrm>
            <a:off x="226400" y="339425"/>
            <a:ext cx="7671900" cy="59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335" name="Google Shape;335;p22"/>
          <p:cNvSpPr txBox="1"/>
          <p:nvPr>
            <p:ph idx="1" type="subTitle"/>
          </p:nvPr>
        </p:nvSpPr>
        <p:spPr>
          <a:xfrm>
            <a:off x="536000" y="1767500"/>
            <a:ext cx="4255500" cy="16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Large-scale data successfully analyzed</a:t>
            </a:r>
            <a:br>
              <a:rPr b="1" lang="en" sz="1500"/>
            </a:b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Predictive models implemented</a:t>
            </a:r>
            <a:br>
              <a:rPr b="1" lang="en" sz="1500"/>
            </a:b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Recommendation system validated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3"/>
          <p:cNvSpPr txBox="1"/>
          <p:nvPr>
            <p:ph type="ctrTitle"/>
          </p:nvPr>
        </p:nvSpPr>
        <p:spPr>
          <a:xfrm>
            <a:off x="2444250" y="15994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Thank You</a:t>
            </a:r>
            <a:endParaRPr sz="4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